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B1373-8B11-42A9-8E36-E4F306365DAB}" v="1170" dt="2026-05-15T20:58:01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7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8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41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8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7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3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4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0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37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00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dificios en blanco y negro">
            <a:extLst>
              <a:ext uri="{FF2B5EF4-FFF2-40B4-BE49-F238E27FC236}">
                <a16:creationId xmlns:a16="http://schemas.microsoft.com/office/drawing/2014/main" id="{6A7D5208-A9EC-B1FB-84A1-CCF0F946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51" r="9085" b="1582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600"/>
              <a:t>Arquitectura Cloud – Inmobiliaria Chamartín</a:t>
            </a:r>
            <a:endParaRPr lang="es-ES" sz="460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s-ES" sz="1300"/>
              <a:t>Modulo: Modulo Profesional Optativo</a:t>
            </a:r>
          </a:p>
          <a:p>
            <a:pPr>
              <a:lnSpc>
                <a:spcPct val="120000"/>
              </a:lnSpc>
            </a:pPr>
            <a:r>
              <a:rPr lang="es-ES" sz="1300"/>
              <a:t>Alumno: David Tío Vallejo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22E3B2-260A-9F66-E229-E7F586AA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s-ES"/>
              <a:t>¿Por qué AWS?</a:t>
            </a:r>
          </a:p>
        </p:txBody>
      </p:sp>
      <p:pic>
        <p:nvPicPr>
          <p:cNvPr id="5" name="Picture 4" descr="Dispositivo móvil con aplicaciones">
            <a:extLst>
              <a:ext uri="{FF2B5EF4-FFF2-40B4-BE49-F238E27FC236}">
                <a16:creationId xmlns:a16="http://schemas.microsoft.com/office/drawing/2014/main" id="{FB56AF20-97BC-CBA5-3BA8-CC41782EE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80" r="10274" b="-2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A63179-B5E2-DF07-D202-4601D059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s-ES" sz="1600" dirty="0"/>
              <a:t>Para el caso de esta empresa Inmobiliaria Chamartín es más conveniente el uso de la arquitectura </a:t>
            </a:r>
            <a:r>
              <a:rPr lang="es-ES" sz="1600" dirty="0" err="1"/>
              <a:t>cloud</a:t>
            </a:r>
            <a:r>
              <a:rPr lang="es-ES" sz="1600" dirty="0"/>
              <a:t> con Amazon Web </a:t>
            </a:r>
            <a:r>
              <a:rPr lang="es-ES" sz="1600" dirty="0" err="1"/>
              <a:t>Services</a:t>
            </a:r>
            <a:r>
              <a:rPr lang="es-ES" sz="1600" dirty="0"/>
              <a:t> que con otro como </a:t>
            </a:r>
            <a:r>
              <a:rPr lang="es-ES" sz="1600" dirty="0" err="1"/>
              <a:t>Misroso</a:t>
            </a:r>
            <a:r>
              <a:rPr lang="es-ES" sz="1600" dirty="0" err="1">
                <a:latin typeface="Grandview Display"/>
              </a:rPr>
              <a:t>ft</a:t>
            </a:r>
            <a:r>
              <a:rPr lang="es-ES" sz="1600" dirty="0"/>
              <a:t> Azure porque:</a:t>
            </a:r>
          </a:p>
          <a:p>
            <a:pPr>
              <a:lnSpc>
                <a:spcPct val="110000"/>
              </a:lnSpc>
            </a:pPr>
            <a:r>
              <a:rPr lang="es-ES" sz="1600" dirty="0"/>
              <a:t>Porque Amazon Web </a:t>
            </a:r>
            <a:r>
              <a:rPr lang="es-ES" sz="1600" dirty="0" err="1"/>
              <a:t>Services</a:t>
            </a:r>
            <a:r>
              <a:rPr lang="es-ES" sz="1600" dirty="0"/>
              <a:t> es escalable desde el min 0 desde que se contrata, es decir tienes una posibilidad de redundancia increíble si necesitas escalar unas cuantas instancias o servidores lo puedes añadir a ti arquitectura sin problemas.</a:t>
            </a:r>
          </a:p>
          <a:p>
            <a:pPr>
              <a:lnSpc>
                <a:spcPct val="110000"/>
              </a:lnSpc>
            </a:pPr>
            <a:r>
              <a:rPr lang="es-ES" sz="1600" dirty="0"/>
              <a:t>Es muy compatible con </a:t>
            </a:r>
            <a:r>
              <a:rPr lang="es-ES" sz="1600" dirty="0" err="1"/>
              <a:t>windows</a:t>
            </a:r>
            <a:r>
              <a:rPr lang="es-ES" sz="1600" dirty="0"/>
              <a:t> en nuestro caso como vamos a usar todo con </a:t>
            </a:r>
            <a:r>
              <a:rPr lang="es-ES" sz="1600" dirty="0" err="1"/>
              <a:t>windows</a:t>
            </a:r>
            <a:r>
              <a:rPr lang="es-ES" sz="1600" dirty="0"/>
              <a:t> tanto con </a:t>
            </a:r>
            <a:r>
              <a:rPr lang="es-ES" sz="1600" dirty="0" err="1"/>
              <a:t>windows</a:t>
            </a:r>
            <a:r>
              <a:rPr lang="es-ES" sz="1600" dirty="0"/>
              <a:t> 11 pro y </a:t>
            </a:r>
            <a:r>
              <a:rPr lang="es-ES" sz="1600" dirty="0" err="1"/>
              <a:t>windows</a:t>
            </a:r>
            <a:r>
              <a:rPr lang="es-ES" sz="1600" dirty="0"/>
              <a:t> server en la empresa, podemos aprovechar al máximo los servicios de AWS sin ningún problema.</a:t>
            </a:r>
          </a:p>
        </p:txBody>
      </p:sp>
    </p:spTree>
    <p:extLst>
      <p:ext uri="{BB962C8B-B14F-4D97-AF65-F5344CB8AC3E}">
        <p14:creationId xmlns:p14="http://schemas.microsoft.com/office/powerpoint/2010/main" val="21398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44B7EC-D733-EBE7-17FC-C3727B4B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400"/>
              <a:t>Diagrama de la arquitectura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E43F97-58DB-D0D3-64E7-921177D65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s-ES_tradnl"/>
              <a:t>Los usuarios del sistema pueden acceder al sistema a través de EC2, que es el servidor principal en la nube.</a:t>
            </a:r>
          </a:p>
          <a:p>
            <a:r>
              <a:rPr lang="es-ES_tradnl"/>
              <a:t>EC2 se comunica con RDS para asi poder gestionar la base de datos de los clientes.</a:t>
            </a:r>
          </a:p>
          <a:p>
            <a:r>
              <a:rPr lang="es-ES_tradnl"/>
              <a:t>Los documentos importantes se guardan y gestionan en  S3.</a:t>
            </a:r>
          </a:p>
          <a:p>
            <a:r>
              <a:rPr lang="es-ES_tradnl"/>
              <a:t>IAM: controla los permisos de acceso a todos los  servicios</a:t>
            </a:r>
          </a:p>
          <a:p>
            <a:r>
              <a:rPr lang="es-ES_tradnl"/>
              <a:t>Y todo el trafico circula por VPC, es decir la red privada de AWS. Pero teniendo en cuenta de aque los usuarios  acceden desde fuera.</a:t>
            </a:r>
          </a:p>
        </p:txBody>
      </p:sp>
      <p:pic>
        <p:nvPicPr>
          <p:cNvPr id="4" name="Marcador de contenido 3" descr="Diagrama&#10;&#10;El contenido generado por IA puede ser incorrecto.">
            <a:extLst>
              <a:ext uri="{FF2B5EF4-FFF2-40B4-BE49-F238E27FC236}">
                <a16:creationId xmlns:a16="http://schemas.microsoft.com/office/drawing/2014/main" id="{B2C40135-EA42-5F09-F3B6-9E7AB116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6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4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E23B0F-1219-7949-923E-DB7FFC59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s-ES"/>
              <a:t>Servicios utilizados</a:t>
            </a: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738760EE-C32A-0B05-041C-AC0125F6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1" r="44875" b="-3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F0DBB4-5A8E-413D-BC8D-06B0AC5E5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ECS: Servidor web de la inmobiliaria.</a:t>
            </a:r>
          </a:p>
          <a:p>
            <a:r>
              <a:rPr lang="es-ES"/>
              <a:t>RDS: Base de datos de clientes e inmuebles.</a:t>
            </a:r>
          </a:p>
          <a:p>
            <a:r>
              <a:rPr lang="es-ES"/>
              <a:t>S3: Almacenamiento de fotos y documentos.</a:t>
            </a:r>
          </a:p>
          <a:p>
            <a:r>
              <a:rPr lang="es-ES" dirty="0"/>
              <a:t>IAM: Control de </a:t>
            </a:r>
            <a:r>
              <a:rPr lang="es-ES"/>
              <a:t>accesos y permisos.</a:t>
            </a:r>
          </a:p>
          <a:p>
            <a:r>
              <a:rPr lang="es-ES" dirty="0"/>
              <a:t>VPC: Red </a:t>
            </a:r>
            <a:r>
              <a:rPr lang="es-ES"/>
              <a:t>privada</a:t>
            </a:r>
            <a:r>
              <a:rPr lang="es-ES" dirty="0"/>
              <a:t> virtual</a:t>
            </a:r>
          </a:p>
        </p:txBody>
      </p:sp>
    </p:spTree>
    <p:extLst>
      <p:ext uri="{BB962C8B-B14F-4D97-AF65-F5344CB8AC3E}">
        <p14:creationId xmlns:p14="http://schemas.microsoft.com/office/powerpoint/2010/main" val="251827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A95F56-AA68-2335-00A2-22BC6984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s-ES"/>
              <a:t>Estimación</a:t>
            </a:r>
            <a:r>
              <a:rPr lang="es-ES" dirty="0"/>
              <a:t> de costes</a:t>
            </a:r>
          </a:p>
        </p:txBody>
      </p:sp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201D65-A652-5E44-9087-BFD29A9C9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Dado a que AWS ofrece un free </a:t>
            </a:r>
            <a:r>
              <a:rPr lang="es-ES" dirty="0" err="1"/>
              <a:t>tier</a:t>
            </a:r>
            <a:r>
              <a:rPr lang="es-ES" dirty="0"/>
              <a:t> durante el primer año, el coste inicial es mínimo unos 2€. Esta </a:t>
            </a:r>
            <a:r>
              <a:rPr lang="es-ES" dirty="0" err="1"/>
              <a:t>seria</a:t>
            </a:r>
            <a:r>
              <a:rPr lang="es-ES" dirty="0"/>
              <a:t> una tabla con los costes estimados durante el pr</a:t>
            </a:r>
            <a:r>
              <a:rPr lang="es-ES" dirty="0">
                <a:latin typeface="Grandview Display"/>
              </a:rPr>
              <a:t>imer</a:t>
            </a:r>
            <a:r>
              <a:rPr lang="es-ES" dirty="0"/>
              <a:t> año.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2063CF-559B-7F53-6696-5C35933DE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817858"/>
              </p:ext>
            </p:extLst>
          </p:nvPr>
        </p:nvGraphicFramePr>
        <p:xfrm>
          <a:off x="7155179" y="1560388"/>
          <a:ext cx="4375830" cy="4093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4">
                  <a:extLst>
                    <a:ext uri="{9D8B030D-6E8A-4147-A177-3AD203B41FA5}">
                      <a16:colId xmlns:a16="http://schemas.microsoft.com/office/drawing/2014/main" val="164263892"/>
                    </a:ext>
                  </a:extLst>
                </a:gridCol>
                <a:gridCol w="2612984">
                  <a:extLst>
                    <a:ext uri="{9D8B030D-6E8A-4147-A177-3AD203B41FA5}">
                      <a16:colId xmlns:a16="http://schemas.microsoft.com/office/drawing/2014/main" val="820502745"/>
                    </a:ext>
                  </a:extLst>
                </a:gridCol>
                <a:gridCol w="788122">
                  <a:extLst>
                    <a:ext uri="{9D8B030D-6E8A-4147-A177-3AD203B41FA5}">
                      <a16:colId xmlns:a16="http://schemas.microsoft.com/office/drawing/2014/main" val="3201560268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Servicio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Especificaciones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Coste / mes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44866869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EC2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 dirty="0">
                          <a:latin typeface="Grandview Display"/>
                        </a:rPr>
                        <a:t>t3.medium · 2 </a:t>
                      </a:r>
                      <a:r>
                        <a:rPr lang="es-ES" sz="1600" b="0" i="0" u="none" strike="noStrike" noProof="0" dirty="0" err="1">
                          <a:latin typeface="Grandview Display"/>
                        </a:rPr>
                        <a:t>vCPU</a:t>
                      </a:r>
                      <a:r>
                        <a:rPr lang="es-ES" sz="1600" b="0" i="0" u="none" strike="noStrike" noProof="0" dirty="0">
                          <a:latin typeface="Grandview Display"/>
                        </a:rPr>
                        <a:t> · 4GB RAM · Windows Server</a:t>
                      </a:r>
                      <a:endParaRPr lang="es-ES" sz="1600" dirty="0"/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0€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913371728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RDS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Grandview Display"/>
                        </a:rPr>
                        <a:t>MySQL · db.t3.micro · 20GB almacenamiento</a:t>
                      </a:r>
                      <a:endParaRPr lang="es-ES" sz="1600"/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0€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318841290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S3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Grandview Display"/>
                        </a:rPr>
                        <a:t>50GB almacenamiento · transferencia estándar</a:t>
                      </a:r>
                      <a:endParaRPr lang="es-ES" sz="1600"/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2€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2178402984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IAM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Grandview Display"/>
                        </a:rPr>
                        <a:t>Usuarios, roles y políticas ilimitadas</a:t>
                      </a:r>
                      <a:endParaRPr lang="es-ES" sz="1600"/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0€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2735536319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VPC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Grandview Display"/>
                        </a:rPr>
                        <a:t>Red privada · subredes · tablas de enrutamiento</a:t>
                      </a:r>
                      <a:endParaRPr lang="es-ES" sz="1600"/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0€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2046947735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r>
                        <a:rPr lang="es-ES" sz="1600"/>
                        <a:t>Total</a:t>
                      </a:r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endParaRPr lang="es-ES" sz="1600"/>
                    </a:p>
                  </a:txBody>
                  <a:tcPr marL="79032" marR="79032" marT="39516" marB="39516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2€ / mes</a:t>
                      </a:r>
                    </a:p>
                  </a:txBody>
                  <a:tcPr marL="79032" marR="79032" marT="39516" marB="39516"/>
                </a:tc>
                <a:extLst>
                  <a:ext uri="{0D108BD9-81ED-4DB2-BD59-A6C34878D82A}">
                    <a16:rowId xmlns:a16="http://schemas.microsoft.com/office/drawing/2014/main" val="3332840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72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64825A-0F88-E589-AB7D-3C3B4A77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 err="1"/>
              <a:t>Estimación</a:t>
            </a:r>
            <a:r>
              <a:rPr lang="en-US" sz="4400" dirty="0"/>
              <a:t> de </a:t>
            </a:r>
            <a:r>
              <a:rPr lang="es-ES_tradnl" sz="4400" dirty="0"/>
              <a:t>costes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F8BEE-8888-36CD-0B3E-C487172D5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846904"/>
            <a:ext cx="3145535" cy="993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cap="all" spc="300" dirty="0"/>
              <a:t>Y este sería el coste de la empresa después del año con free tier</a:t>
            </a:r>
          </a:p>
        </p:txBody>
      </p:sp>
      <p:cxnSp>
        <p:nvCxnSpPr>
          <p:cNvPr id="31" name="Straight Connector 2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466EFA4-5D9D-9F46-B5FD-822E9C1F3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168287"/>
              </p:ext>
            </p:extLst>
          </p:nvPr>
        </p:nvGraphicFramePr>
        <p:xfrm>
          <a:off x="4987876" y="966978"/>
          <a:ext cx="5998817" cy="4873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368">
                  <a:extLst>
                    <a:ext uri="{9D8B030D-6E8A-4147-A177-3AD203B41FA5}">
                      <a16:colId xmlns:a16="http://schemas.microsoft.com/office/drawing/2014/main" val="164263892"/>
                    </a:ext>
                  </a:extLst>
                </a:gridCol>
                <a:gridCol w="3769575">
                  <a:extLst>
                    <a:ext uri="{9D8B030D-6E8A-4147-A177-3AD203B41FA5}">
                      <a16:colId xmlns:a16="http://schemas.microsoft.com/office/drawing/2014/main" val="820502745"/>
                    </a:ext>
                  </a:extLst>
                </a:gridCol>
                <a:gridCol w="1068874">
                  <a:extLst>
                    <a:ext uri="{9D8B030D-6E8A-4147-A177-3AD203B41FA5}">
                      <a16:colId xmlns:a16="http://schemas.microsoft.com/office/drawing/2014/main" val="3201560268"/>
                    </a:ext>
                  </a:extLst>
                </a:gridCol>
              </a:tblGrid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Servicio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Especificaciones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Coste / mes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44866869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EC2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900" b="0" i="0" u="none" strike="noStrike" noProof="0">
                          <a:latin typeface="Grandview Display"/>
                        </a:rPr>
                        <a:t>t3.medium · 2 </a:t>
                      </a:r>
                      <a:r>
                        <a:rPr lang="es-ES" sz="1900" b="0" i="0" u="none" strike="noStrike" noProof="0" err="1">
                          <a:latin typeface="Grandview Display"/>
                        </a:rPr>
                        <a:t>vCPU</a:t>
                      </a:r>
                      <a:r>
                        <a:rPr lang="es-ES" sz="1900" b="0" i="0" u="none" strike="noStrike" noProof="0">
                          <a:latin typeface="Grandview Display"/>
                        </a:rPr>
                        <a:t> · 4GB RAM · Windows Server</a:t>
                      </a:r>
                      <a:endParaRPr lang="es-ES" sz="1900"/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30€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913371728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RDS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900" b="0" i="0" u="none" strike="noStrike" noProof="0">
                          <a:latin typeface="Grandview Display"/>
                        </a:rPr>
                        <a:t>MySQL · db.t3.micro · 20GB almacenamiento</a:t>
                      </a:r>
                      <a:endParaRPr lang="es-ES" sz="1900"/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15€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318841290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S3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900" b="0" i="0" u="none" strike="noStrike" noProof="0">
                          <a:latin typeface="Grandview Display"/>
                        </a:rPr>
                        <a:t>50GB almacenamiento · transferencia estándar</a:t>
                      </a:r>
                      <a:endParaRPr lang="es-ES" sz="1900"/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2€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2178402984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IAM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900" b="0" i="0" u="none" strike="noStrike" noProof="0">
                          <a:latin typeface="Grandview Display"/>
                        </a:rPr>
                        <a:t>Usuarios, roles y políticas ilimitadas</a:t>
                      </a:r>
                      <a:endParaRPr lang="es-ES" sz="1900"/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0€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2735536319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VPC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900" b="0" i="0" u="none" strike="noStrike" noProof="0">
                          <a:latin typeface="Grandview Display"/>
                        </a:rPr>
                        <a:t>Red privada · subredes · tablas de enrutamiento</a:t>
                      </a:r>
                      <a:endParaRPr lang="es-ES" sz="1900"/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0€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2046947735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r>
                        <a:rPr lang="es-ES" sz="1900"/>
                        <a:t>Total</a:t>
                      </a:r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endParaRPr lang="es-ES" sz="1900"/>
                    </a:p>
                  </a:txBody>
                  <a:tcPr marL="93960" marR="93960" marT="46980" marB="46980"/>
                </a:tc>
                <a:tc>
                  <a:txBody>
                    <a:bodyPr/>
                    <a:lstStyle/>
                    <a:p>
                      <a:r>
                        <a:rPr lang="es-ES" sz="1900"/>
                        <a:t>47€ / mes</a:t>
                      </a:r>
                    </a:p>
                  </a:txBody>
                  <a:tcPr marL="93960" marR="93960" marT="46980" marB="46980"/>
                </a:tc>
                <a:extLst>
                  <a:ext uri="{0D108BD9-81ED-4DB2-BD59-A6C34878D82A}">
                    <a16:rowId xmlns:a16="http://schemas.microsoft.com/office/drawing/2014/main" val="3332840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585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2CDC80-7D66-FEE2-549C-FC2FDDD1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s-ES"/>
              <a:t>Conclusión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E0228-63E3-ECB6-17B3-5510517E5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>
                <a:ea typeface="+mn-lt"/>
                <a:cs typeface="+mn-lt"/>
              </a:rPr>
              <a:t>AWS es la solución más adecuada para Inmobiliaria Chamartín por su escalabilidad y compatibilidad con Windows.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El coste es muy reducido gracias al Free Tier, especialmente durante el primer año.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La arquitectura propuesta cubre todas las necesidades de la empresa de forma segura a través de la VPC e IAM.</a:t>
            </a:r>
            <a:endParaRPr lang="es-ES"/>
          </a:p>
          <a:p>
            <a:endParaRPr lang="es-ES" dirty="0"/>
          </a:p>
        </p:txBody>
      </p:sp>
      <p:pic>
        <p:nvPicPr>
          <p:cNvPr id="5" name="Picture 4" descr="Vista con un ángulo bajo de la esquina del edificio contra el cielo azul claro">
            <a:extLst>
              <a:ext uri="{FF2B5EF4-FFF2-40B4-BE49-F238E27FC236}">
                <a16:creationId xmlns:a16="http://schemas.microsoft.com/office/drawing/2014/main" id="{A70565AE-0C8D-B5E9-A604-FD99A1B5B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71" r="35331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995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DashVTI</vt:lpstr>
      <vt:lpstr>Arquitectura Cloud – Inmobiliaria Chamartín</vt:lpstr>
      <vt:lpstr>¿Por qué AWS?</vt:lpstr>
      <vt:lpstr>Diagrama de la arquitectura</vt:lpstr>
      <vt:lpstr>Servicios utilizados</vt:lpstr>
      <vt:lpstr>Estimación de costes</vt:lpstr>
      <vt:lpstr>Estimación de costes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197</cp:revision>
  <dcterms:created xsi:type="dcterms:W3CDTF">2026-05-15T20:21:54Z</dcterms:created>
  <dcterms:modified xsi:type="dcterms:W3CDTF">2026-05-15T20:59:25Z</dcterms:modified>
</cp:coreProperties>
</file>